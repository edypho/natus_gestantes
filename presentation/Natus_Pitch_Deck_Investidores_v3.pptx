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594360"/>
            <a:ext cx="274320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85216"/>
            <a:ext cx="242316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atus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30936"/>
            <a:ext cx="316039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52144" y="68580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 i="0">
                <a:solidFill>
                  <a:srgbClr val="D3A53D"/>
                </a:solidFill>
                <a:latin typeface="Aptos"/>
              </a:defRPr>
            </a:pPr>
            <a:r>
              <a:t>Natus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621792"/>
            <a:ext cx="3474720" cy="5669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02752" y="694944"/>
            <a:ext cx="3063240" cy="420624"/>
          </a:xfrm>
          <a:prstGeom prst="roundRect">
            <a:avLst/>
          </a:prstGeom>
          <a:solidFill>
            <a:srgbClr val="8B6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777240"/>
            <a:ext cx="3063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INVESTOR DECK •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86200"/>
            <a:ext cx="6720840" cy="1508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840480"/>
            <a:ext cx="4846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5500" b="1" i="0">
                <a:solidFill>
                  <a:srgbClr val="FFFFFF"/>
                </a:solidFill>
                <a:latin typeface="Aptos Display"/>
              </a:defRPr>
            </a:pPr>
            <a:r>
              <a:t>Natus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5902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4800" b="0" i="0">
                <a:solidFill>
                  <a:srgbClr val="FFFFFF"/>
                </a:solidFill>
                <a:latin typeface="Aptos Display"/>
              </a:defRPr>
            </a:pPr>
            <a:r>
              <a:t>Pitch Deck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5449824"/>
            <a:ext cx="11384280" cy="13533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" y="6089904"/>
            <a:ext cx="10844784" cy="10972"/>
          </a:xfrm>
          <a:prstGeom prst="rect">
            <a:avLst/>
          </a:prstGeom>
          <a:solidFill>
            <a:srgbClr val="D3A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6236208"/>
            <a:ext cx="21945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  <a:latin typeface="Aptos"/>
              </a:defRPr>
            </a:pPr>
            <a:r>
              <a:t>[e-mail]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6236208"/>
            <a:ext cx="2926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700" b="0" i="0">
                <a:solidFill>
                  <a:srgbClr val="FFFFFF"/>
                </a:solidFill>
                <a:latin typeface="Aptos"/>
              </a:defRPr>
            </a:pPr>
            <a:r>
              <a:t>NATUS  •  CONFIDENCIAL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6236208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700" b="0" i="0">
                <a:solidFill>
                  <a:srgbClr val="FFFFFF"/>
                </a:solidFill>
                <a:latin typeface="Aptos"/>
              </a:defRPr>
            </a:pPr>
            <a:r>
              <a:t>[site]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882896" y="502920"/>
            <a:ext cx="6053328" cy="51389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shboard.png"/>
          <p:cNvPicPr>
            <a:picLocks noChangeAspect="1"/>
          </p:cNvPicPr>
          <p:nvPr/>
        </p:nvPicPr>
        <p:blipFill>
          <a:blip r:embed="rId3"/>
          <a:srcRect l="29517" r="29517"/>
          <a:stretch>
            <a:fillRect/>
          </a:stretch>
        </p:blipFill>
        <p:spPr>
          <a:xfrm>
            <a:off x="1078992" y="658368"/>
            <a:ext cx="3566160" cy="54406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74920" y="658368"/>
            <a:ext cx="2468880" cy="4389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47488" y="621792"/>
            <a:ext cx="242316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natus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667512"/>
            <a:ext cx="316039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59552" y="722376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 i="0">
                <a:solidFill>
                  <a:srgbClr val="D3A53D"/>
                </a:solidFill>
                <a:latin typeface="Aptos"/>
              </a:defRPr>
            </a:pPr>
            <a:r>
              <a:t>Natus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1938528"/>
            <a:ext cx="5715000" cy="1143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02352" y="1965960"/>
            <a:ext cx="557784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3500" b="1" i="0">
                <a:solidFill>
                  <a:srgbClr val="FFFFFF"/>
                </a:solidFill>
                <a:latin typeface="Aptos Display"/>
              </a:defRPr>
            </a:pPr>
            <a:r>
              <a:t>A clínica cresce.</a:t>
            </a:r>
            <a:br/>
            <a:r>
              <a:t>O cuidado permanece.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3182112"/>
            <a:ext cx="2788920" cy="402336"/>
          </a:xfrm>
          <a:prstGeom prst="roundRect">
            <a:avLst/>
          </a:prstGeom>
          <a:solidFill>
            <a:srgbClr val="8B6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3264408"/>
            <a:ext cx="2788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100" b="0" i="0">
                <a:solidFill>
                  <a:srgbClr val="FFFFFF"/>
                </a:solidFill>
                <a:latin typeface="Aptos"/>
              </a:defRPr>
            </a:pPr>
            <a:r>
              <a:t>A infraestrutura Natus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02352" y="3703320"/>
            <a:ext cx="5577840" cy="1691640"/>
          </a:xfrm>
          <a:prstGeom prst="round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0952" y="3977639"/>
            <a:ext cx="5120640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Aptos"/>
              </a:defRPr>
            </a:pPr>
            <a:r>
              <a:t>Uma plataforma SaaS que conecta gestão clínica, relacionamento com pacientes e inteligência operacional — em uma única jornada.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715000"/>
            <a:ext cx="3246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750" b="0" i="1">
                <a:solidFill>
                  <a:srgbClr val="D7D7D7"/>
                </a:solidFill>
                <a:latin typeface="Aptos"/>
              </a:defRPr>
            </a:pPr>
            <a:r>
              <a:t>Tela real do produto • dados demonstrativos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520440" y="384048"/>
            <a:ext cx="5074920" cy="153619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01768" y="365759"/>
            <a:ext cx="242316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atus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411479"/>
            <a:ext cx="316039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13831" y="466344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 i="0">
                <a:solidFill>
                  <a:srgbClr val="D3A53D"/>
                </a:solidFill>
                <a:latin typeface="Aptos"/>
              </a:defRPr>
            </a:pPr>
            <a:r>
              <a:t>Natus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70832" y="941832"/>
            <a:ext cx="36576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4200" b="1" i="0">
                <a:solidFill>
                  <a:srgbClr val="FFFFFF"/>
                </a:solidFill>
                <a:latin typeface="Aptos Display"/>
              </a:defRPr>
            </a:pPr>
            <a:r>
              <a:t>O problema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00400"/>
            <a:ext cx="3246120" cy="3246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84448"/>
            <a:ext cx="2926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Operação fragmentada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4315968"/>
            <a:ext cx="276148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150" b="0" i="0">
                <a:solidFill>
                  <a:srgbClr val="D7D7D7"/>
                </a:solidFill>
                <a:latin typeface="Aptos"/>
              </a:defRPr>
            </a:pPr>
            <a:r>
              <a:t>Agenda, prontuário, documentos e financeiro vivem separados.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98848" y="3200400"/>
            <a:ext cx="3246120" cy="3246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3584448"/>
            <a:ext cx="2926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Relacionamento reativo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4315968"/>
            <a:ext cx="276148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150" b="0" i="0">
                <a:solidFill>
                  <a:srgbClr val="D7D7D7"/>
                </a:solidFill>
                <a:latin typeface="Aptos"/>
              </a:defRPr>
            </a:pPr>
            <a:r>
              <a:t>A equipe perde contexto e o paciente sente a descontinuidade.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57032" y="3200400"/>
            <a:ext cx="3246120" cy="3246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3584448"/>
            <a:ext cx="2926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Gestão no retrovisor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7344" y="4315968"/>
            <a:ext cx="276148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150" b="0" i="0">
                <a:solidFill>
                  <a:srgbClr val="D7D7D7"/>
                </a:solidFill>
                <a:latin typeface="Aptos"/>
              </a:defRPr>
            </a:pPr>
            <a:r>
              <a:t>Decisões dependem de consolidação manual e dados incompletos.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2286000"/>
            <a:ext cx="4480560" cy="3246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0936" y="2670048"/>
            <a:ext cx="242316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atus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715768"/>
            <a:ext cx="316039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" y="2770632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 i="0">
                <a:solidFill>
                  <a:srgbClr val="D3A53D"/>
                </a:solidFill>
                <a:latin typeface="Aptos"/>
              </a:defRPr>
            </a:pPr>
            <a:r>
              <a:t>Natus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37560"/>
            <a:ext cx="38862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4300" b="1" i="0">
                <a:solidFill>
                  <a:srgbClr val="FFFFFF"/>
                </a:solidFill>
                <a:latin typeface="Aptos Display"/>
              </a:defRPr>
            </a:pPr>
            <a:r>
              <a:t>A solução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411480"/>
            <a:ext cx="5897880" cy="5669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521208"/>
            <a:ext cx="4526280" cy="107899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59436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500" b="1" i="0">
                <a:solidFill>
                  <a:srgbClr val="D3A53D"/>
                </a:solidFill>
                <a:latin typeface="Aptos"/>
              </a:defRPr>
            </a:pPr>
            <a:r>
              <a:t>Organizar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941832"/>
            <a:ext cx="4023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50" b="0" i="0">
                <a:solidFill>
                  <a:srgbClr val="FFFFFF"/>
                </a:solidFill>
                <a:latin typeface="Aptos"/>
              </a:defRPr>
            </a:pPr>
            <a:r>
              <a:t>Agenda, prontuário, documentos e financeiro no mesmo fluxo.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2743200"/>
            <a:ext cx="4526280" cy="107899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8163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500" b="1" i="0">
                <a:solidFill>
                  <a:srgbClr val="D3A53D"/>
                </a:solidFill>
                <a:latin typeface="Aptos"/>
              </a:defRPr>
            </a:pPr>
            <a:r>
              <a:t>Conectar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163824"/>
            <a:ext cx="4023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50" b="0" i="0">
                <a:solidFill>
                  <a:srgbClr val="FFFFFF"/>
                </a:solidFill>
                <a:latin typeface="Aptos"/>
              </a:defRPr>
            </a:pPr>
            <a:r>
              <a:t>Equipe e paciente com contexto, conteúdo e alertas.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59" y="4910328"/>
            <a:ext cx="4526280" cy="107899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498348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500" b="1" i="0">
                <a:solidFill>
                  <a:srgbClr val="D3A53D"/>
                </a:solidFill>
                <a:latin typeface="Aptos"/>
              </a:defRPr>
            </a:pPr>
            <a:r>
              <a:t>Decidir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5330952"/>
            <a:ext cx="4023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50" b="0" i="0">
                <a:solidFill>
                  <a:srgbClr val="FFFFFF"/>
                </a:solidFill>
                <a:latin typeface="Aptos"/>
              </a:defRPr>
            </a:pPr>
            <a:r>
              <a:t>KPIs clínicos e operacionais para agir antes do problema.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566928"/>
            <a:ext cx="4892040" cy="10515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45720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4100" b="1" i="0">
                <a:solidFill>
                  <a:srgbClr val="FFFFFF"/>
                </a:solidFill>
                <a:latin typeface="Aptos Display"/>
              </a:defRPr>
            </a:pPr>
            <a:r>
              <a:t>Produto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2596896"/>
            <a:ext cx="3182112" cy="33375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3"/>
          <a:srcRect t="15046" b="15046"/>
          <a:stretch>
            <a:fillRect/>
          </a:stretch>
        </p:blipFill>
        <p:spPr>
          <a:xfrm>
            <a:off x="1097280" y="2688336"/>
            <a:ext cx="2971800" cy="1298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5568" y="4151376"/>
            <a:ext cx="28803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Visão operacional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4626864"/>
            <a:ext cx="2788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0" i="0">
                <a:solidFill>
                  <a:srgbClr val="D7D7D7"/>
                </a:solidFill>
                <a:latin typeface="Aptos"/>
              </a:defRPr>
            </a:pPr>
            <a:r>
              <a:t>KPIs, alertas e saúde da clínica.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2157984"/>
            <a:ext cx="3182112" cy="33375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cientes.png"/>
          <p:cNvPicPr>
            <a:picLocks noChangeAspect="1"/>
          </p:cNvPicPr>
          <p:nvPr/>
        </p:nvPicPr>
        <p:blipFill>
          <a:blip r:embed="rId4"/>
          <a:srcRect t="15046" b="15046"/>
          <a:stretch>
            <a:fillRect/>
          </a:stretch>
        </p:blipFill>
        <p:spPr>
          <a:xfrm>
            <a:off x="4572000" y="2249424"/>
            <a:ext cx="2971800" cy="12984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90288" y="3712463"/>
            <a:ext cx="28803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Jornada do paciente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4187952"/>
            <a:ext cx="2788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0" i="0">
                <a:solidFill>
                  <a:srgbClr val="D7D7D7"/>
                </a:solidFill>
                <a:latin typeface="Aptos"/>
              </a:defRPr>
            </a:pPr>
            <a:r>
              <a:t>Contexto, status e próximos passos.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82712" y="1645920"/>
            <a:ext cx="3182112" cy="33375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inanceiro.png"/>
          <p:cNvPicPr>
            <a:picLocks noChangeAspect="1"/>
          </p:cNvPicPr>
          <p:nvPr/>
        </p:nvPicPr>
        <p:blipFill>
          <a:blip r:embed="rId5"/>
          <a:srcRect t="15046" b="15046"/>
          <a:stretch>
            <a:fillRect/>
          </a:stretch>
        </p:blipFill>
        <p:spPr>
          <a:xfrm>
            <a:off x="8074152" y="1737360"/>
            <a:ext cx="2971800" cy="12984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92440" y="3200400"/>
            <a:ext cx="28803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Gestão financeira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675887"/>
            <a:ext cx="2788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0" i="0">
                <a:solidFill>
                  <a:srgbClr val="D7D7D7"/>
                </a:solidFill>
                <a:latin typeface="Aptos"/>
              </a:defRPr>
            </a:pPr>
            <a:r>
              <a:t>Recebimentos, atrasos e previsibilidade.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5879592"/>
            <a:ext cx="2194560" cy="40233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08008" y="5806440"/>
            <a:ext cx="242316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natus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852159"/>
            <a:ext cx="316039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720072" y="5907024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 i="0">
                <a:solidFill>
                  <a:srgbClr val="D3A53D"/>
                </a:solidFill>
                <a:latin typeface="Aptos"/>
              </a:defRPr>
            </a:pPr>
            <a:r>
              <a:t>Natus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2057400"/>
            <a:ext cx="4206240" cy="2331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76656" y="1664207"/>
            <a:ext cx="242316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atus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709928"/>
            <a:ext cx="316039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19" y="1764792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 i="0">
                <a:solidFill>
                  <a:srgbClr val="D3A53D"/>
                </a:solidFill>
                <a:latin typeface="Aptos"/>
              </a:defRPr>
            </a:pPr>
            <a:r>
              <a:t>Natus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606040"/>
            <a:ext cx="40233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Aptos Display"/>
              </a:defRPr>
            </a:pPr>
            <a:r>
              <a:t>Uma plataforma.</a:t>
            </a:r>
            <a:br/>
            <a:r>
              <a:t>Quatro superfícies.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7488" y="1417320"/>
            <a:ext cx="2852928" cy="4681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66760" y="1417320"/>
            <a:ext cx="2852928" cy="4681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30368" y="3273552"/>
            <a:ext cx="2487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500" b="1" i="0">
                <a:solidFill>
                  <a:srgbClr val="D3A53D"/>
                </a:solidFill>
                <a:latin typeface="Aptos"/>
              </a:defRPr>
            </a:pPr>
            <a:r>
              <a:t>PACIENTE + PROFISSIONAL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21808" y="4023360"/>
            <a:ext cx="230428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250" b="0" i="0">
                <a:solidFill>
                  <a:srgbClr val="FFFFFF"/>
                </a:solidFill>
                <a:latin typeface="Aptos"/>
              </a:defRPr>
            </a:pPr>
            <a:r>
              <a:t>Acompanhamento</a:t>
            </a:r>
            <a:br/>
            <a:r>
              <a:t>Agenda</a:t>
            </a:r>
            <a:br/>
            <a:r>
              <a:t>Prontuário</a:t>
            </a:r>
            <a:br/>
            <a:r>
              <a:t>Documentos</a:t>
            </a:r>
            <a:br/>
            <a:r>
              <a:t>Notificações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3273552"/>
            <a:ext cx="2487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500" b="1" i="0">
                <a:solidFill>
                  <a:srgbClr val="D3A53D"/>
                </a:solidFill>
                <a:latin typeface="Aptos"/>
              </a:defRPr>
            </a:pPr>
            <a:r>
              <a:t>CLÍNICA + SAAS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4023360"/>
            <a:ext cx="230428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250" b="0" i="0">
                <a:solidFill>
                  <a:srgbClr val="FFFFFF"/>
                </a:solidFill>
                <a:latin typeface="Aptos"/>
              </a:defRPr>
            </a:pPr>
            <a:r>
              <a:t>Financeiro</a:t>
            </a:r>
            <a:br/>
            <a:r>
              <a:t>Relatórios</a:t>
            </a:r>
            <a:br/>
            <a:r>
              <a:t>Permissões</a:t>
            </a:r>
            <a:br/>
            <a:r>
              <a:t>Planos e limites</a:t>
            </a:r>
            <a:br/>
            <a:r>
              <a:t>Superadmin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3504" y="658368"/>
            <a:ext cx="4846320" cy="1600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731520"/>
            <a:ext cx="44805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4600" b="1" i="0">
                <a:solidFill>
                  <a:srgbClr val="FFFFFF"/>
                </a:solidFill>
                <a:latin typeface="Aptos Display"/>
              </a:defRPr>
            </a:pPr>
            <a:r>
              <a:t>Mercado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5486400" cy="1828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0" i="0">
                <a:solidFill>
                  <a:srgbClr val="D7D7D7"/>
                </a:solidFill>
                <a:latin typeface="Aptos"/>
              </a:defRPr>
            </a:pPr>
            <a:r>
              <a:t>Entrada disciplinada em um mercado amplo.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822960"/>
            <a:ext cx="5074920" cy="205740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8B6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0152" y="1024128"/>
            <a:ext cx="6583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1389888"/>
            <a:ext cx="45445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100" b="1" i="0">
                <a:solidFill>
                  <a:srgbClr val="D3A53D"/>
                </a:solidFill>
                <a:latin typeface="Aptos"/>
              </a:defRPr>
            </a:pPr>
            <a:r>
              <a:t>217 mil+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8816" y="1901952"/>
            <a:ext cx="454456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Aptos"/>
              </a:defRPr>
            </a:pPr>
            <a:r>
              <a:t>clínicas especializadas e consultórios isolados na base oficial de referência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401568"/>
            <a:ext cx="5138928" cy="210312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8B6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37176" y="3602736"/>
            <a:ext cx="6583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968496"/>
            <a:ext cx="460857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100" b="1" i="0">
                <a:solidFill>
                  <a:srgbClr val="D3A53D"/>
                </a:solidFill>
                <a:latin typeface="Aptos"/>
              </a:defRPr>
            </a:pPr>
            <a:r>
              <a:t>20 mil clínicas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480560"/>
            <a:ext cx="460857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Aptos"/>
              </a:defRPr>
            </a:pPr>
            <a:r>
              <a:t>beachhead ilustrativo: clínicas privadas de 3–20 profissionais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3401568"/>
            <a:ext cx="5074920" cy="210312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8B6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60152" y="3602736"/>
            <a:ext cx="6583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SOM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816" y="3968496"/>
            <a:ext cx="45445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100" b="1" i="0">
                <a:solidFill>
                  <a:srgbClr val="D3A53D"/>
                </a:solidFill>
                <a:latin typeface="Aptos"/>
              </a:defRPr>
            </a:pPr>
            <a:r>
              <a:t>R$ 83,8 mi ARR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4480560"/>
            <a:ext cx="454456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Aptos"/>
              </a:defRPr>
            </a:pPr>
            <a:r>
              <a:t>hipótese a R$ 349/mês — não representa receita atual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5715000"/>
            <a:ext cx="2606040" cy="5943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53728" y="5824728"/>
            <a:ext cx="242316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natus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870448"/>
            <a:ext cx="316039" cy="457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65792" y="5925312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 i="0">
                <a:solidFill>
                  <a:srgbClr val="D3A53D"/>
                </a:solidFill>
                <a:latin typeface="Aptos"/>
              </a:defRPr>
            </a:pPr>
            <a:r>
              <a:t>Natus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475488"/>
            <a:ext cx="4919472" cy="290779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3401568"/>
            <a:ext cx="11292840" cy="32186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914400"/>
            <a:ext cx="4526280" cy="22402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2423160" cy="53035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natus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143000"/>
            <a:ext cx="316039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52144" y="1197864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 i="0">
                <a:solidFill>
                  <a:srgbClr val="8B6A27"/>
                </a:solidFill>
                <a:latin typeface="Aptos"/>
              </a:defRPr>
            </a:pPr>
            <a:r>
              <a:t>Natus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3977639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3800" b="1" i="0">
                <a:solidFill>
                  <a:srgbClr val="080808"/>
                </a:solidFill>
                <a:latin typeface="Aptos Display"/>
              </a:defRPr>
            </a:pPr>
            <a:r>
              <a:t>Modelo</a:t>
            </a:r>
            <a:br/>
            <a:r>
              <a:t>de negócio</a:t>
            </a:r>
          </a:p>
        </p:txBody>
      </p:sp>
      <p:pic>
        <p:nvPicPr>
          <p:cNvPr id="10" name="Picture 9" descr="dashboard.png"/>
          <p:cNvPicPr>
            <a:picLocks noChangeAspect="1"/>
          </p:cNvPicPr>
          <p:nvPr/>
        </p:nvPicPr>
        <p:blipFill>
          <a:blip r:embed="rId4"/>
          <a:srcRect t="6148" b="6148"/>
          <a:stretch>
            <a:fillRect/>
          </a:stretch>
        </p:blipFill>
        <p:spPr>
          <a:xfrm>
            <a:off x="5321808" y="0"/>
            <a:ext cx="6172200" cy="33832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8368" y="3675887"/>
            <a:ext cx="4343400" cy="21762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05072"/>
            <a:ext cx="3566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1" i="0">
                <a:solidFill>
                  <a:srgbClr val="080808"/>
                </a:solidFill>
                <a:latin typeface="Aptos"/>
              </a:defRPr>
            </a:pPr>
            <a:r>
              <a:t>Receita recorrente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90288"/>
            <a:ext cx="3520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0" i="0">
                <a:solidFill>
                  <a:srgbClr val="080808"/>
                </a:solidFill>
                <a:latin typeface="Aptos"/>
              </a:defRPr>
            </a:pPr>
            <a:r>
              <a:t>Planos Start e Premium. Expansão por pacientes ativos, usuários, módulos, implantação e integrações.</a:t>
            </a:r>
          </a:p>
        </p:txBody>
      </p:sp>
      <p:pic>
        <p:nvPicPr>
          <p:cNvPr id="14" name="Picture 13" descr="pacientes.png"/>
          <p:cNvPicPr>
            <a:picLocks noChangeAspect="1"/>
          </p:cNvPicPr>
          <p:nvPr/>
        </p:nvPicPr>
        <p:blipFill>
          <a:blip r:embed="rId5"/>
          <a:srcRect l="8640" r="8640"/>
          <a:stretch>
            <a:fillRect/>
          </a:stretch>
        </p:blipFill>
        <p:spPr>
          <a:xfrm>
            <a:off x="5321808" y="3675887"/>
            <a:ext cx="2880360" cy="2176272"/>
          </a:xfrm>
          <a:prstGeom prst="rect">
            <a:avLst/>
          </a:prstGeom>
        </p:spPr>
      </p:pic>
      <p:pic>
        <p:nvPicPr>
          <p:cNvPr id="15" name="Picture 14" descr="financeiro.png"/>
          <p:cNvPicPr>
            <a:picLocks noChangeAspect="1"/>
          </p:cNvPicPr>
          <p:nvPr/>
        </p:nvPicPr>
        <p:blipFill>
          <a:blip r:embed="rId6"/>
          <a:srcRect l="6408" r="6408"/>
          <a:stretch>
            <a:fillRect/>
          </a:stretch>
        </p:blipFill>
        <p:spPr>
          <a:xfrm>
            <a:off x="8458200" y="3675887"/>
            <a:ext cx="3035808" cy="21762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1874519"/>
            <a:ext cx="4553712" cy="43159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596896"/>
            <a:ext cx="242316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atus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642616"/>
            <a:ext cx="316039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52144" y="2697479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 i="0">
                <a:solidFill>
                  <a:srgbClr val="D3A53D"/>
                </a:solidFill>
                <a:latin typeface="Aptos"/>
              </a:defRPr>
            </a:pPr>
            <a:r>
              <a:t>Natus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91840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3900" b="1" i="0">
                <a:solidFill>
                  <a:srgbClr val="FFFFFF"/>
                </a:solidFill>
                <a:latin typeface="Aptos Display"/>
              </a:defRPr>
            </a:pPr>
            <a:r>
              <a:t>Go-to-market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4133087"/>
            <a:ext cx="37490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0" i="0">
                <a:solidFill>
                  <a:srgbClr val="D7D7D7"/>
                </a:solidFill>
                <a:latin typeface="Aptos"/>
              </a:defRPr>
            </a:pPr>
            <a:r>
              <a:t>Começar estreito. Provar valor. Expandir por confiança.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8032" y="932688"/>
            <a:ext cx="7360920" cy="5230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40096" y="1481328"/>
            <a:ext cx="6080760" cy="438912"/>
          </a:xfrm>
          <a:prstGeom prst="roundRect">
            <a:avLst/>
          </a:prstGeom>
          <a:solidFill>
            <a:srgbClr val="8B6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0096" y="1581912"/>
            <a:ext cx="6080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AQUISIÇÃO → ATIVAÇÃO → RETENÇÃO → EXPANSÃO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2221992"/>
            <a:ext cx="502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 i="0">
                <a:solidFill>
                  <a:srgbClr val="D3A53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221992"/>
            <a:ext cx="44348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Aptos"/>
              </a:defRPr>
            </a:pPr>
            <a:r>
              <a:t>Founder-led sales em clínicas privadas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3364992"/>
            <a:ext cx="502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 i="0">
                <a:solidFill>
                  <a:srgbClr val="D3A53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364992"/>
            <a:ext cx="44348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Aptos"/>
              </a:defRPr>
            </a:pPr>
            <a:r>
              <a:t>Onboarding assistido e primeiro valor em até 7 dias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4507992"/>
            <a:ext cx="502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 i="0">
                <a:solidFill>
                  <a:srgbClr val="D3A53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507992"/>
            <a:ext cx="44348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Aptos"/>
              </a:defRPr>
            </a:pPr>
            <a:r>
              <a:t>Expansão por módulos, usuários e unidades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11480" y="256032"/>
            <a:ext cx="2788920" cy="12984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493776"/>
            <a:ext cx="242316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atus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39496"/>
            <a:ext cx="316039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59436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 i="0">
                <a:solidFill>
                  <a:srgbClr val="D3A53D"/>
                </a:solidFill>
                <a:latin typeface="Aptos"/>
              </a:defRPr>
            </a:pPr>
            <a:r>
              <a:t>Natus</a:t>
            </a:r>
          </a:p>
        </p:txBody>
      </p:sp>
      <p:sp>
        <p:nvSpPr>
          <p:cNvPr id="7" name="Rectangle 6"/>
          <p:cNvSpPr/>
          <p:nvPr/>
        </p:nvSpPr>
        <p:spPr>
          <a:xfrm>
            <a:off x="8092440" y="256032"/>
            <a:ext cx="3566160" cy="14447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457200"/>
            <a:ext cx="31089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4100" b="1" i="0">
                <a:solidFill>
                  <a:srgbClr val="FFFFFF"/>
                </a:solidFill>
                <a:latin typeface="Aptos Display"/>
              </a:defRPr>
            </a:pPr>
            <a:r>
              <a:t>Execução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98448"/>
            <a:ext cx="7680960" cy="4800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682496"/>
            <a:ext cx="694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Aptos Display"/>
              </a:defRPr>
            </a:pPr>
            <a:r>
              <a:t>Produto funcional.</a:t>
            </a:r>
            <a:br/>
            <a:r>
              <a:t>Validação comercial é o próximo salto.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98064"/>
            <a:ext cx="6720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0" i="0">
                <a:solidFill>
                  <a:srgbClr val="D7D7D7"/>
                </a:solidFill>
                <a:latin typeface="Aptos"/>
              </a:defRPr>
            </a:pPr>
            <a:r>
              <a:t>A base já reúne web + mobile, multi-clínica, permissões, planos, financeiro, prontuário, documentos e notificações.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86200"/>
            <a:ext cx="4297680" cy="566928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D3A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50791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AGORA  •  Generalizar o núcleo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4617720"/>
            <a:ext cx="4389120" cy="566928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D3A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0" y="4782312"/>
            <a:ext cx="3931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4–8 MESES  •  Pilotos pagos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27632"/>
            <a:ext cx="3401568" cy="4315968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8B6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32520" y="4142231"/>
            <a:ext cx="438912" cy="594360"/>
          </a:xfrm>
          <a:prstGeom prst="rect">
            <a:avLst/>
          </a:prstGeom>
          <a:solidFill>
            <a:srgbClr val="F2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59368" y="4828032"/>
            <a:ext cx="594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650" b="0" i="0">
                <a:solidFill>
                  <a:srgbClr val="FFFFFF"/>
                </a:solidFill>
                <a:latin typeface="Aptos"/>
              </a:defRPr>
            </a:pPr>
            <a:r>
              <a:t>Produto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36024" y="3730752"/>
            <a:ext cx="438912" cy="1005840"/>
          </a:xfrm>
          <a:prstGeom prst="rect">
            <a:avLst/>
          </a:prstGeom>
          <a:solidFill>
            <a:srgbClr val="C9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62872" y="4828032"/>
            <a:ext cx="594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650" b="0" i="0">
                <a:solidFill>
                  <a:srgbClr val="FFFFFF"/>
                </a:solidFill>
                <a:latin typeface="Aptos"/>
              </a:defRPr>
            </a:pPr>
            <a:r>
              <a:t>Pilotos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39528" y="3319272"/>
            <a:ext cx="438912" cy="1417320"/>
          </a:xfrm>
          <a:prstGeom prst="rect">
            <a:avLst/>
          </a:prstGeom>
          <a:solidFill>
            <a:srgbClr val="967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66376" y="4828032"/>
            <a:ext cx="594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650" b="0" i="0">
                <a:solidFill>
                  <a:srgbClr val="FFFFFF"/>
                </a:solidFill>
                <a:latin typeface="Aptos"/>
              </a:defRPr>
            </a:pPr>
            <a:r>
              <a:t>Retenção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43032" y="2907791"/>
            <a:ext cx="438912" cy="1828800"/>
          </a:xfrm>
          <a:prstGeom prst="rect">
            <a:avLst/>
          </a:prstGeom>
          <a:solidFill>
            <a:srgbClr val="654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69880" y="4828032"/>
            <a:ext cx="594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650" b="0" i="0">
                <a:solidFill>
                  <a:srgbClr val="FFFFFF"/>
                </a:solidFill>
                <a:latin typeface="Aptos"/>
              </a:defRPr>
            </a:pPr>
            <a:r>
              <a:t>Escala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880360" y="256032"/>
            <a:ext cx="6263640" cy="14447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749039" y="566928"/>
            <a:ext cx="46177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4300" b="1" i="0">
                <a:solidFill>
                  <a:srgbClr val="FFFFFF"/>
                </a:solidFill>
                <a:latin typeface="Aptos Display"/>
              </a:defRPr>
            </a:pPr>
            <a:r>
              <a:t>A rodada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1517904" y="1810512"/>
            <a:ext cx="1188720" cy="1188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73936" y="1993392"/>
            <a:ext cx="658368" cy="658368"/>
          </a:xfrm>
          <a:prstGeom prst="roundRect">
            <a:avLst/>
          </a:prstGeom>
          <a:solidFill>
            <a:srgbClr val="8B6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27632" y="2423160"/>
            <a:ext cx="2697480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3351" y="2395728"/>
            <a:ext cx="2560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2500" b="1" i="0">
                <a:solidFill>
                  <a:srgbClr val="D3A53D"/>
                </a:solidFill>
                <a:latin typeface="Aptos"/>
              </a:defRPr>
            </a:pPr>
            <a:r>
              <a:t>45%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3351" y="3127248"/>
            <a:ext cx="25603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Produto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749039"/>
            <a:ext cx="2432304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50" b="0" i="0">
                <a:solidFill>
                  <a:srgbClr val="D7D7D7"/>
                </a:solidFill>
                <a:latin typeface="Aptos"/>
              </a:defRPr>
            </a:pPr>
            <a:r>
              <a:t>Generalização, segurança, compliance e integrações.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45152" y="1810512"/>
            <a:ext cx="1188720" cy="1188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1183" y="1993392"/>
            <a:ext cx="658368" cy="658368"/>
          </a:xfrm>
          <a:prstGeom prst="roundRect">
            <a:avLst/>
          </a:prstGeom>
          <a:solidFill>
            <a:srgbClr val="8B6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79" y="2423160"/>
            <a:ext cx="2697480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2395728"/>
            <a:ext cx="2560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2500" b="1" i="0">
                <a:solidFill>
                  <a:srgbClr val="D3A53D"/>
                </a:solidFill>
                <a:latin typeface="Aptos"/>
              </a:defRPr>
            </a:pPr>
            <a:r>
              <a:t>35%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127248"/>
            <a:ext cx="25603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Go-to-market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607" y="3749039"/>
            <a:ext cx="2432304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50" b="0" i="0">
                <a:solidFill>
                  <a:srgbClr val="D7D7D7"/>
                </a:solidFill>
                <a:latin typeface="Aptos"/>
              </a:defRPr>
            </a:pPr>
            <a:r>
              <a:t>Pilotos, vendas, implantação e geração de demanda.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54112" y="1810512"/>
            <a:ext cx="1188720" cy="1188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10144" y="1993392"/>
            <a:ext cx="658368" cy="658368"/>
          </a:xfrm>
          <a:prstGeom prst="roundRect">
            <a:avLst/>
          </a:prstGeom>
          <a:solidFill>
            <a:srgbClr val="8B6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0" y="2423160"/>
            <a:ext cx="2697480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2395728"/>
            <a:ext cx="2560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2500" b="1" i="0">
                <a:solidFill>
                  <a:srgbClr val="D3A53D"/>
                </a:solidFill>
                <a:latin typeface="Aptos"/>
              </a:defRPr>
            </a:pPr>
            <a:r>
              <a:t>20%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3127248"/>
            <a:ext cx="25603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Operação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3568" y="3749039"/>
            <a:ext cx="2432304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50" b="0" i="0">
                <a:solidFill>
                  <a:srgbClr val="D7D7D7"/>
                </a:solidFill>
                <a:latin typeface="Aptos"/>
              </a:defRPr>
            </a:pPr>
            <a:r>
              <a:t>Sucesso do cliente, dados e base para escala.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5852160"/>
            <a:ext cx="2743200" cy="3840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01768" y="5797296"/>
            <a:ext cx="242316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natus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5843016"/>
            <a:ext cx="316039" cy="4572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513831" y="589788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 i="0">
                <a:solidFill>
                  <a:srgbClr val="D3A53D"/>
                </a:solidFill>
                <a:latin typeface="Aptos"/>
              </a:defRPr>
            </a:pPr>
            <a:r>
              <a:t>Natus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449824"/>
            <a:ext cx="11384280" cy="13533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6656" y="6089904"/>
            <a:ext cx="10844784" cy="10972"/>
          </a:xfrm>
          <a:prstGeom prst="rect">
            <a:avLst/>
          </a:prstGeom>
          <a:solidFill>
            <a:srgbClr val="D3A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" y="6236208"/>
            <a:ext cx="21945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  <a:latin typeface="Aptos"/>
              </a:defRPr>
            </a:pPr>
            <a:r>
              <a:t>[e-mail]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6236208"/>
            <a:ext cx="2926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700" b="0" i="0">
                <a:solidFill>
                  <a:srgbClr val="FFFFFF"/>
                </a:solidFill>
                <a:latin typeface="Aptos"/>
              </a:defRPr>
            </a:pPr>
            <a:r>
              <a:t>NATUS  •  CONFIDENCIAL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6236208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700" b="0" i="0">
                <a:solidFill>
                  <a:srgbClr val="FFFFFF"/>
                </a:solidFill>
                <a:latin typeface="Aptos"/>
              </a:defRPr>
            </a:pPr>
            <a:r>
              <a:t>[site]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937760" y="566928"/>
            <a:ext cx="228600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01768" y="548640"/>
            <a:ext cx="242316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atus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594360"/>
            <a:ext cx="316039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13831" y="649224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 i="0">
                <a:solidFill>
                  <a:srgbClr val="D3A53D"/>
                </a:solidFill>
                <a:latin typeface="Aptos"/>
              </a:defRPr>
            </a:pPr>
            <a:r>
              <a:t>Natus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965960"/>
            <a:ext cx="6766560" cy="2331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2011680"/>
            <a:ext cx="6766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5800" b="0" i="0">
                <a:solidFill>
                  <a:srgbClr val="FFFFFF"/>
                </a:solidFill>
                <a:latin typeface="Aptos Display"/>
              </a:defRPr>
            </a:pPr>
            <a:r>
              <a:t>Obrigado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3584448"/>
            <a:ext cx="3886200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5968" y="3703320"/>
            <a:ext cx="3566160" cy="438912"/>
          </a:xfrm>
          <a:prstGeom prst="roundRect">
            <a:avLst/>
          </a:prstGeom>
          <a:solidFill>
            <a:srgbClr val="8B6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8" y="3803904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50" b="0" i="0">
                <a:solidFill>
                  <a:srgbClr val="FFFFFF"/>
                </a:solidFill>
                <a:latin typeface="Aptos"/>
              </a:defRPr>
            </a:pPr>
            <a:r>
              <a:t>Cuidado que acolhe. Tecnologia que conecta.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449824"/>
            <a:ext cx="11384280" cy="13533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6656" y="6089904"/>
            <a:ext cx="10844784" cy="10972"/>
          </a:xfrm>
          <a:prstGeom prst="rect">
            <a:avLst/>
          </a:prstGeom>
          <a:solidFill>
            <a:srgbClr val="D3A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6236208"/>
            <a:ext cx="21945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  <a:latin typeface="Aptos"/>
              </a:defRPr>
            </a:pPr>
            <a:r>
              <a:t>[e-mail]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6236208"/>
            <a:ext cx="2926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700" b="0" i="0">
                <a:solidFill>
                  <a:srgbClr val="FFFFFF"/>
                </a:solidFill>
                <a:latin typeface="Aptos"/>
              </a:defRPr>
            </a:pPr>
            <a:r>
              <a:t>NATUS  •  CONFIDENCIAL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6236208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700" b="0" i="0">
                <a:solidFill>
                  <a:srgbClr val="FFFFFF"/>
                </a:solidFill>
                <a:latin typeface="Aptos"/>
              </a:defRPr>
            </a:pPr>
            <a:r>
              <a:t>[site]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Natus — Pitch Deck para Investidores v3</dc:title>
  <dc:subject/>
  <dc:creator>Natus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